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1" r:id="rId2"/>
  </p:sldIdLst>
  <p:sldSz cx="7772400" cy="1005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82E2C"/>
    <a:srgbClr val="2232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03" autoAdjust="0"/>
    <p:restoredTop sz="94660"/>
  </p:normalViewPr>
  <p:slideViewPr>
    <p:cSldViewPr snapToGrid="0">
      <p:cViewPr varScale="1">
        <p:scale>
          <a:sx n="74" d="100"/>
          <a:sy n="74" d="100"/>
        </p:scale>
        <p:origin x="3272" y="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1646133"/>
            <a:ext cx="6606540" cy="3501813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5282989"/>
            <a:ext cx="5829300" cy="2428451"/>
          </a:xfrm>
        </p:spPr>
        <p:txBody>
          <a:bodyPr/>
          <a:lstStyle>
            <a:lvl1pPr marL="0" indent="0" algn="ctr">
              <a:buNone/>
              <a:defRPr sz="2040"/>
            </a:lvl1pPr>
            <a:lvl2pPr marL="388620" indent="0" algn="ctr">
              <a:buNone/>
              <a:defRPr sz="1700"/>
            </a:lvl2pPr>
            <a:lvl3pPr marL="777240" indent="0" algn="ctr">
              <a:buNone/>
              <a:defRPr sz="1530"/>
            </a:lvl3pPr>
            <a:lvl4pPr marL="1165860" indent="0" algn="ctr">
              <a:buNone/>
              <a:defRPr sz="1360"/>
            </a:lvl4pPr>
            <a:lvl5pPr marL="1554480" indent="0" algn="ctr">
              <a:buNone/>
              <a:defRPr sz="1360"/>
            </a:lvl5pPr>
            <a:lvl6pPr marL="1943100" indent="0" algn="ctr">
              <a:buNone/>
              <a:defRPr sz="1360"/>
            </a:lvl6pPr>
            <a:lvl7pPr marL="2331720" indent="0" algn="ctr">
              <a:buNone/>
              <a:defRPr sz="1360"/>
            </a:lvl7pPr>
            <a:lvl8pPr marL="2720340" indent="0" algn="ctr">
              <a:buNone/>
              <a:defRPr sz="1360"/>
            </a:lvl8pPr>
            <a:lvl9pPr marL="3108960" indent="0" algn="ctr">
              <a:buNone/>
              <a:defRPr sz="1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5BF1E-A0B0-464A-821C-E8D4BAD17E79}" type="datetimeFigureOut">
              <a:rPr lang="en-US" smtClean="0"/>
              <a:t>2/13/26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48F21-9589-4C88-AD02-010BFC202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587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5BF1E-A0B0-464A-821C-E8D4BAD17E79}" type="datetimeFigureOut">
              <a:rPr lang="en-US" smtClean="0"/>
              <a:t>2/13/26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48F21-9589-4C88-AD02-010BFC202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4072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5" y="2507618"/>
            <a:ext cx="6703695" cy="4184014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5" y="6731215"/>
            <a:ext cx="6703695" cy="2200274"/>
          </a:xfrm>
        </p:spPr>
        <p:txBody>
          <a:bodyPr/>
          <a:lstStyle>
            <a:lvl1pPr marL="0" indent="0">
              <a:buNone/>
              <a:defRPr sz="2040">
                <a:solidFill>
                  <a:schemeClr val="tx1"/>
                </a:solidFill>
              </a:defRPr>
            </a:lvl1pPr>
            <a:lvl2pPr marL="38862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2pPr>
            <a:lvl3pPr marL="777240" indent="0">
              <a:buNone/>
              <a:defRPr sz="1530">
                <a:solidFill>
                  <a:schemeClr val="tx1">
                    <a:tint val="75000"/>
                  </a:schemeClr>
                </a:solidFill>
              </a:defRPr>
            </a:lvl3pPr>
            <a:lvl4pPr marL="11658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4pPr>
            <a:lvl5pPr marL="155448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5pPr>
            <a:lvl6pPr marL="194310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6pPr>
            <a:lvl7pPr marL="233172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7pPr>
            <a:lvl8pPr marL="272034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8pPr>
            <a:lvl9pPr marL="31089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5BF1E-A0B0-464A-821C-E8D4BAD17E79}" type="datetimeFigureOut">
              <a:rPr lang="en-US" smtClean="0"/>
              <a:t>2/13/26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48F21-9589-4C88-AD02-010BFC202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257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5BF1E-A0B0-464A-821C-E8D4BAD17E79}" type="datetimeFigureOut">
              <a:rPr lang="en-US" smtClean="0"/>
              <a:t>2/13/26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48F21-9589-4C88-AD02-010BFC202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2730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535519"/>
            <a:ext cx="6703695" cy="19441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6" y="2465706"/>
            <a:ext cx="3288089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6" y="3674110"/>
            <a:ext cx="3288089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2465706"/>
            <a:ext cx="3304282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3674110"/>
            <a:ext cx="3304282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5BF1E-A0B0-464A-821C-E8D4BAD17E79}" type="datetimeFigureOut">
              <a:rPr lang="en-US" smtClean="0"/>
              <a:t>2/13/26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48F21-9589-4C88-AD02-010BFC202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6195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5BF1E-A0B0-464A-821C-E8D4BAD17E79}" type="datetimeFigureOut">
              <a:rPr lang="en-US" smtClean="0"/>
              <a:t>2/13/26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48F21-9589-4C88-AD02-010BFC202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5174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5BF1E-A0B0-464A-821C-E8D4BAD17E79}" type="datetimeFigureOut">
              <a:rPr lang="en-US" smtClean="0"/>
              <a:t>2/13/26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48F21-9589-4C88-AD02-010BFC202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3803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1448226"/>
            <a:ext cx="3934778" cy="7147983"/>
          </a:xfrm>
        </p:spPr>
        <p:txBody>
          <a:bodyPr/>
          <a:lstStyle>
            <a:lvl1pPr>
              <a:defRPr sz="2720"/>
            </a:lvl1pPr>
            <a:lvl2pPr>
              <a:defRPr sz="2380"/>
            </a:lvl2pPr>
            <a:lvl3pPr>
              <a:defRPr sz="204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5BF1E-A0B0-464A-821C-E8D4BAD17E79}" type="datetimeFigureOut">
              <a:rPr lang="en-US" smtClean="0"/>
              <a:t>2/13/26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48F21-9589-4C88-AD02-010BFC202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2671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1448226"/>
            <a:ext cx="3934778" cy="7147983"/>
          </a:xfrm>
        </p:spPr>
        <p:txBody>
          <a:bodyPr anchor="t"/>
          <a:lstStyle>
            <a:lvl1pPr marL="0" indent="0">
              <a:buNone/>
              <a:defRPr sz="2720"/>
            </a:lvl1pPr>
            <a:lvl2pPr marL="388620" indent="0">
              <a:buNone/>
              <a:defRPr sz="2380"/>
            </a:lvl2pPr>
            <a:lvl3pPr marL="777240" indent="0">
              <a:buNone/>
              <a:defRPr sz="2040"/>
            </a:lvl3pPr>
            <a:lvl4pPr marL="1165860" indent="0">
              <a:buNone/>
              <a:defRPr sz="1700"/>
            </a:lvl4pPr>
            <a:lvl5pPr marL="1554480" indent="0">
              <a:buNone/>
              <a:defRPr sz="1700"/>
            </a:lvl5pPr>
            <a:lvl6pPr marL="1943100" indent="0">
              <a:buNone/>
              <a:defRPr sz="1700"/>
            </a:lvl6pPr>
            <a:lvl7pPr marL="2331720" indent="0">
              <a:buNone/>
              <a:defRPr sz="1700"/>
            </a:lvl7pPr>
            <a:lvl8pPr marL="2720340" indent="0">
              <a:buNone/>
              <a:defRPr sz="1700"/>
            </a:lvl8pPr>
            <a:lvl9pPr marL="3108960" indent="0">
              <a:buNone/>
              <a:defRPr sz="17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5BF1E-A0B0-464A-821C-E8D4BAD17E79}" type="datetimeFigureOut">
              <a:rPr lang="en-US" smtClean="0"/>
              <a:t>2/13/26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48F21-9589-4C88-AD02-010BFC202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0215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5BF1E-A0B0-464A-821C-E8D4BAD17E79}" type="datetimeFigureOut">
              <a:rPr lang="en-US" smtClean="0"/>
              <a:t>2/13/26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48F21-9589-4C88-AD02-010BFC202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483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535517"/>
            <a:ext cx="1675924" cy="85240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535517"/>
            <a:ext cx="4930616" cy="85240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5BF1E-A0B0-464A-821C-E8D4BAD17E79}" type="datetimeFigureOut">
              <a:rPr lang="en-US" smtClean="0"/>
              <a:t>2/13/26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48F21-9589-4C88-AD02-010BFC202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0075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5BF1E-A0B0-464A-821C-E8D4BAD17E79}" type="datetimeFigureOut">
              <a:rPr lang="en-US" smtClean="0"/>
              <a:t>2/13/26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348F21-9589-4C88-AD02-010BFC202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683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77240" rtl="0" eaLnBrk="1" latinLnBrk="0" hangingPunct="1">
        <a:lnSpc>
          <a:spcPct val="90000"/>
        </a:lnSpc>
        <a:spcBef>
          <a:spcPct val="0"/>
        </a:spcBef>
        <a:buNone/>
        <a:defRPr sz="37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10" indent="-19431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380" kern="1200">
          <a:solidFill>
            <a:schemeClr val="tx1"/>
          </a:solidFill>
          <a:latin typeface="+mn-lt"/>
          <a:ea typeface="+mn-ea"/>
          <a:cs typeface="+mn-cs"/>
        </a:defRPr>
      </a:lvl1pPr>
      <a:lvl2pPr marL="5829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1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74879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FB5E04-4CF6-2893-36A8-06FA9A226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DE59A7F2-F4EF-11AC-ADFF-F22EE053B5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9829800"/>
            <a:ext cx="7772400" cy="2286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AFB8D83-751B-85D5-4807-9269027E1459}"/>
              </a:ext>
            </a:extLst>
          </p:cNvPr>
          <p:cNvSpPr txBox="1"/>
          <p:nvPr/>
        </p:nvSpPr>
        <p:spPr>
          <a:xfrm>
            <a:off x="2521856" y="1443849"/>
            <a:ext cx="4819135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 b="1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GIL C. MENESES</a:t>
            </a:r>
          </a:p>
          <a:p>
            <a:r>
              <a:rPr lang="en-US" sz="1200" dirty="0">
                <a:solidFill>
                  <a:srgbClr val="C82E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Corporate Secretary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2D20A4D-D43E-B066-05CC-E41C17373DCD}"/>
              </a:ext>
            </a:extLst>
          </p:cNvPr>
          <p:cNvSpPr txBox="1"/>
          <p:nvPr/>
        </p:nvSpPr>
        <p:spPr>
          <a:xfrm>
            <a:off x="2521856" y="2013236"/>
            <a:ext cx="48191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BS PMA 1980, Magna Cum Laude, Grad #2</a:t>
            </a:r>
          </a:p>
          <a:p>
            <a:r>
              <a:rPr lang="en-US" sz="90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PhD, Peace and Security Administration</a:t>
            </a:r>
          </a:p>
          <a:p>
            <a:r>
              <a:rPr lang="en-US" sz="90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Masters, Public Safety Administration, Silver Medal</a:t>
            </a:r>
          </a:p>
          <a:p>
            <a:r>
              <a:rPr lang="en-US" sz="90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Bachelor of Laws (LLB), Cum Laude</a:t>
            </a:r>
          </a:p>
          <a:p>
            <a:r>
              <a:rPr lang="en-US" sz="90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Director, Civil Security Group (CSG), PNP</a:t>
            </a:r>
          </a:p>
          <a:p>
            <a:r>
              <a:rPr lang="en-US" sz="90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Technical Consultant, PMS, OP, 2017-2022</a:t>
            </a:r>
          </a:p>
          <a:p>
            <a:r>
              <a:rPr lang="en-US" sz="90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Member, Rotary Club of Loyola Heights, QC</a:t>
            </a:r>
          </a:p>
          <a:p>
            <a:r>
              <a:rPr lang="en-US" sz="90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Member, Philippine BAR, 1994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DFC09DB-0685-1F8C-99E7-C87C2D1B5B1B}"/>
              </a:ext>
            </a:extLst>
          </p:cNvPr>
          <p:cNvSpPr txBox="1"/>
          <p:nvPr/>
        </p:nvSpPr>
        <p:spPr>
          <a:xfrm>
            <a:off x="2521856" y="3535753"/>
            <a:ext cx="4819135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 b="1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ROLANDO M. AQUINO</a:t>
            </a:r>
          </a:p>
          <a:p>
            <a:r>
              <a:rPr lang="en-US" sz="1200" dirty="0">
                <a:solidFill>
                  <a:srgbClr val="C82E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Treasurer  &amp; Chairman, Finance Committee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EB76507-E4A5-0333-6827-FB2794179CD2}"/>
              </a:ext>
            </a:extLst>
          </p:cNvPr>
          <p:cNvSpPr txBox="1"/>
          <p:nvPr/>
        </p:nvSpPr>
        <p:spPr>
          <a:xfrm>
            <a:off x="2521856" y="5618292"/>
            <a:ext cx="4819135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 b="1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RUFINO G. IBAY JR.</a:t>
            </a:r>
          </a:p>
          <a:p>
            <a:r>
              <a:rPr lang="en-US" sz="1200" dirty="0">
                <a:solidFill>
                  <a:srgbClr val="C82E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Awards Committee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693AD44-58E3-357C-2784-105496BD6B1C}"/>
              </a:ext>
            </a:extLst>
          </p:cNvPr>
          <p:cNvSpPr txBox="1"/>
          <p:nvPr/>
        </p:nvSpPr>
        <p:spPr>
          <a:xfrm>
            <a:off x="2521856" y="7707616"/>
            <a:ext cx="4819135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 b="1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MANUEL B. MARIANO</a:t>
            </a:r>
          </a:p>
          <a:p>
            <a:r>
              <a:rPr lang="en-US" sz="1200" dirty="0">
                <a:solidFill>
                  <a:srgbClr val="C82E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Chairman, Bylaws Amendment Committee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498592B-A00E-3A92-3208-6C5E28B48F0C}"/>
              </a:ext>
            </a:extLst>
          </p:cNvPr>
          <p:cNvSpPr txBox="1"/>
          <p:nvPr/>
        </p:nvSpPr>
        <p:spPr>
          <a:xfrm>
            <a:off x="2521856" y="8277003"/>
            <a:ext cx="2878823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BS PMA 1962</a:t>
            </a:r>
          </a:p>
          <a:p>
            <a:r>
              <a:rPr lang="en-US" sz="90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Masters in Management, AIM</a:t>
            </a:r>
          </a:p>
          <a:p>
            <a:r>
              <a:rPr lang="en-US" sz="90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Masters in Business Economics (UA and P) </a:t>
            </a:r>
          </a:p>
          <a:p>
            <a:r>
              <a:rPr lang="en-US" sz="90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Commander, AFP LOGCOM</a:t>
            </a:r>
          </a:p>
          <a:p>
            <a:r>
              <a:rPr lang="en-US" sz="90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Chairman and CEO, </a:t>
            </a:r>
            <a:r>
              <a:rPr lang="en-US" sz="900" dirty="0" err="1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Videogram</a:t>
            </a:r>
            <a:r>
              <a:rPr lang="en-US" sz="90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Regulatory Board</a:t>
            </a:r>
          </a:p>
          <a:p>
            <a:r>
              <a:rPr lang="en-US" sz="90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Member, BOT, TG PMA HOP Foundation</a:t>
            </a:r>
          </a:p>
          <a:p>
            <a:r>
              <a:rPr lang="en-US" sz="90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Distinguished Conduct Star</a:t>
            </a:r>
          </a:p>
          <a:p>
            <a:r>
              <a:rPr lang="en-US" sz="90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Presidential </a:t>
            </a:r>
            <a:r>
              <a:rPr lang="en-US" sz="900" dirty="0" err="1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Lingkod</a:t>
            </a:r>
            <a:r>
              <a:rPr lang="en-US" sz="90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Bayan Award</a:t>
            </a:r>
          </a:p>
          <a:p>
            <a:r>
              <a:rPr lang="en-US" sz="90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President, Rotary Club of </a:t>
            </a:r>
            <a:r>
              <a:rPr lang="en-US" sz="900" dirty="0" err="1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Greenmeadows</a:t>
            </a:r>
            <a:endParaRPr lang="en-US" sz="900" dirty="0">
              <a:solidFill>
                <a:srgbClr val="22324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EC36467B-6247-2C0F-FD9A-C86B5C2F70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2920" y="1163870"/>
            <a:ext cx="6766560" cy="2366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B83A65E-D5F8-642F-3E57-1E60D1B79B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1446349"/>
            <a:ext cx="1857375" cy="185737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4F223A03-DA77-B98D-C72B-6D9540847E8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4348" y="7698821"/>
            <a:ext cx="1857375" cy="186690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CB8229BD-283D-1AB4-6089-D523B96F54FA}"/>
              </a:ext>
            </a:extLst>
          </p:cNvPr>
          <p:cNvSpPr txBox="1"/>
          <p:nvPr/>
        </p:nvSpPr>
        <p:spPr>
          <a:xfrm>
            <a:off x="5301824" y="8277003"/>
            <a:ext cx="2198726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First AFP Senior Officer Graduate of</a:t>
            </a:r>
          </a:p>
          <a:p>
            <a:r>
              <a:rPr lang="en-US" sz="90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the National Defense University</a:t>
            </a:r>
          </a:p>
          <a:p>
            <a:r>
              <a:rPr lang="en-US" sz="90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at Washington DC, USA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454510D-2DB9-18A1-CCC8-94F3013F9EA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919" y="3548797"/>
            <a:ext cx="1857375" cy="18669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0CBCB92-C064-0080-0B8B-686D7EAA1AA5}"/>
              </a:ext>
            </a:extLst>
          </p:cNvPr>
          <p:cNvSpPr txBox="1"/>
          <p:nvPr/>
        </p:nvSpPr>
        <p:spPr>
          <a:xfrm>
            <a:off x="2521856" y="4117881"/>
            <a:ext cx="331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BS PMA 1983</a:t>
            </a:r>
          </a:p>
          <a:p>
            <a:r>
              <a:rPr lang="en-US" sz="90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Master in Defense Studies, University of Canberra, Australia</a:t>
            </a:r>
          </a:p>
          <a:p>
            <a:pPr marL="88900" indent="-8890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Wing Commander, 205THW &amp; 410</a:t>
            </a:r>
            <a:r>
              <a:rPr lang="en-US" sz="900" baseline="3000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US" sz="90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MW</a:t>
            </a:r>
          </a:p>
          <a:p>
            <a:r>
              <a:rPr lang="en-US" sz="90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Independent Trustee, AFPMBAI, 2015-2016</a:t>
            </a:r>
          </a:p>
          <a:p>
            <a:r>
              <a:rPr lang="en-US" sz="90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Member, BOD Air Cavalier Credit Coop, 2015-2021</a:t>
            </a:r>
          </a:p>
          <a:p>
            <a:r>
              <a:rPr lang="en-US" sz="90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Presidential </a:t>
            </a:r>
            <a:r>
              <a:rPr lang="en-US" sz="900" dirty="0" err="1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Lingkod</a:t>
            </a:r>
            <a:r>
              <a:rPr lang="en-US" sz="90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Bayan Award, CSC, 2014</a:t>
            </a:r>
          </a:p>
          <a:p>
            <a:pPr marL="52388" indent="-52388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Outstanding Phil   Soldier 2006</a:t>
            </a:r>
          </a:p>
          <a:p>
            <a:pPr marL="52388" indent="-52388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Cavalier Award Air Force     Operations, 1994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51F7E3-43E6-C712-9CBC-01D14A680BB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4348" y="5616648"/>
            <a:ext cx="1857375" cy="18573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51EF6A3-EF25-B732-4B5F-28E50C3A5BE9}"/>
              </a:ext>
            </a:extLst>
          </p:cNvPr>
          <p:cNvSpPr txBox="1"/>
          <p:nvPr/>
        </p:nvSpPr>
        <p:spPr>
          <a:xfrm>
            <a:off x="2450345" y="6194464"/>
            <a:ext cx="4819135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BS PMA 1967 with Academic Board Star</a:t>
            </a:r>
          </a:p>
          <a:p>
            <a:r>
              <a:rPr lang="en-US" sz="90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Masters Degree in Economics, UP School of Economics</a:t>
            </a:r>
          </a:p>
          <a:p>
            <a:r>
              <a:rPr lang="en-US" sz="90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Director for Comptrollership, PNP</a:t>
            </a:r>
          </a:p>
          <a:p>
            <a:r>
              <a:rPr lang="en-US" sz="90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President &amp; CEO, AFPSLAI, 2003-2006</a:t>
            </a:r>
          </a:p>
          <a:p>
            <a:r>
              <a:rPr lang="en-US" sz="90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Acting Chairperson, John Hay Management Corporation</a:t>
            </a:r>
          </a:p>
          <a:p>
            <a:r>
              <a:rPr lang="en-US" sz="90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Member, Rotary Club of Pasay MIA</a:t>
            </a:r>
          </a:p>
          <a:p>
            <a:r>
              <a:rPr lang="en-US" sz="90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MA in Economics , PhD on Peace and Security, Bicol University</a:t>
            </a:r>
          </a:p>
        </p:txBody>
      </p:sp>
    </p:spTree>
    <p:extLst>
      <p:ext uri="{BB962C8B-B14F-4D97-AF65-F5344CB8AC3E}">
        <p14:creationId xmlns:p14="http://schemas.microsoft.com/office/powerpoint/2010/main" val="16689304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312</TotalTime>
  <Words>303</Words>
  <Application>Microsoft Macintosh PowerPoint</Application>
  <PresentationFormat>Custom</PresentationFormat>
  <Paragraphs>43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FMI - GRAPHIC ARTIST</dc:creator>
  <cp:lastModifiedBy>Demosthenes Doplayna</cp:lastModifiedBy>
  <cp:revision>16</cp:revision>
  <cp:lastPrinted>2023-08-30T05:39:52Z</cp:lastPrinted>
  <dcterms:created xsi:type="dcterms:W3CDTF">2023-08-02T08:32:19Z</dcterms:created>
  <dcterms:modified xsi:type="dcterms:W3CDTF">2026-02-13T06:42:12Z</dcterms:modified>
</cp:coreProperties>
</file>