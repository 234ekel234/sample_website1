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E2C"/>
    <a:srgbClr val="22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27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7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1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1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8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6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2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0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B2A6E-D9E3-5F7A-9576-49B8C859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6C92384-B8EC-CF22-01D2-AE1A147A7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829800"/>
            <a:ext cx="7772400" cy="228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340C2C-7CDC-1BDF-B34B-DA3BDAE6AE8E}"/>
              </a:ext>
            </a:extLst>
          </p:cNvPr>
          <p:cNvSpPr txBox="1"/>
          <p:nvPr/>
        </p:nvSpPr>
        <p:spPr>
          <a:xfrm>
            <a:off x="2521856" y="1443849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 C. LAPUS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B005F9-7BC6-DBB9-55D0-0F198CCAAD6A}"/>
              </a:ext>
            </a:extLst>
          </p:cNvPr>
          <p:cNvSpPr txBox="1"/>
          <p:nvPr/>
        </p:nvSpPr>
        <p:spPr>
          <a:xfrm>
            <a:off x="2521856" y="3535753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RESTITUTO L. AGUILAR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787F51-9A6B-4A8A-AB39-B13EBACF390F}"/>
              </a:ext>
            </a:extLst>
          </p:cNvPr>
          <p:cNvSpPr txBox="1"/>
          <p:nvPr/>
        </p:nvSpPr>
        <p:spPr>
          <a:xfrm>
            <a:off x="2521856" y="5618292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IRVIN S. HIBALER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9DCCE-2887-F3F9-83BE-FC330CD5959D}"/>
              </a:ext>
            </a:extLst>
          </p:cNvPr>
          <p:cNvSpPr txBox="1"/>
          <p:nvPr/>
        </p:nvSpPr>
        <p:spPr>
          <a:xfrm>
            <a:off x="2521856" y="6187679"/>
            <a:ext cx="4819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2011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Chief, International Military Affairs Branch, Strategic and Special Studies Division, Office for Strategic Studies and Strategy Management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MS Environmental Management,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Student, PhD in Environmental Diplomacy and Negotiations 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Military Assistant, Anti-Terrorism Council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Program Management Center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Philippine Institute of Environmental Planners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5ED53F-997E-011A-BE58-D1184372E9A3}"/>
              </a:ext>
            </a:extLst>
          </p:cNvPr>
          <p:cNvSpPr txBox="1"/>
          <p:nvPr/>
        </p:nvSpPr>
        <p:spPr>
          <a:xfrm>
            <a:off x="2521856" y="7707616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CAESAR BERNARD N. VALENCIA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Trustee, Ex Officio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170C45-A7D0-4E0F-EDF4-2F170F90A1A4}"/>
              </a:ext>
            </a:extLst>
          </p:cNvPr>
          <p:cNvSpPr txBox="1"/>
          <p:nvPr/>
        </p:nvSpPr>
        <p:spPr>
          <a:xfrm>
            <a:off x="2521856" y="8277003"/>
            <a:ext cx="4819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1990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PMA Superintendent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in Management, University of New South Wales, Canberra, Australia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Vice Commander, PN, 2022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Chief of Naval Staff, 2021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Commander of Naval Forces Northern Luzon, 2019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Director of Naval Intelligence Training Institute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Dean of Academics for Naval Officer School Center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28107337-2C94-6F34-CE8D-C35F17DE1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920" y="1163870"/>
            <a:ext cx="6766560" cy="236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B2A98B1-1C85-FA13-DF77-5C3866011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19" y="5653697"/>
            <a:ext cx="1857375" cy="1857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F5D4F8-DA5A-9417-69CC-290544F772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19" y="7745390"/>
            <a:ext cx="1857375" cy="1857375"/>
          </a:xfrm>
          <a:prstGeom prst="rect">
            <a:avLst/>
          </a:prstGeom>
        </p:spPr>
      </p:pic>
      <p:pic>
        <p:nvPicPr>
          <p:cNvPr id="6" name="Picture 5" descr="A person in a military uniform&#10;&#10;AI-generated content may be incorrect.">
            <a:extLst>
              <a:ext uri="{FF2B5EF4-FFF2-40B4-BE49-F238E27FC236}">
                <a16:creationId xmlns:a16="http://schemas.microsoft.com/office/drawing/2014/main" id="{10C4F2BA-EEE5-2104-A330-478325802F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3" r="14297" b="44957"/>
          <a:stretch>
            <a:fillRect/>
          </a:stretch>
        </p:blipFill>
        <p:spPr>
          <a:xfrm>
            <a:off x="499708" y="7745390"/>
            <a:ext cx="1773433" cy="1857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3632A5-C00D-D10B-0FB5-31907EB334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" y="7745390"/>
            <a:ext cx="1857375" cy="1857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EAA6A7-9809-0256-2BC6-C874CD779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19" y="1464906"/>
            <a:ext cx="1857375" cy="18573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CC6728-EC33-19C0-2E1C-D5D3DA8B0179}"/>
              </a:ext>
            </a:extLst>
          </p:cNvPr>
          <p:cNvSpPr txBox="1"/>
          <p:nvPr/>
        </p:nvSpPr>
        <p:spPr>
          <a:xfrm>
            <a:off x="2521856" y="2082486"/>
            <a:ext cx="48191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1965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Cavalier Awardee, PMAAAI, 2017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Commanding General, Visayas Command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MBA, UP               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MPA, MLQU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Board of Director, PHIVIDEC                             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President, Mindanao Steel Corporation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B0609-BF6E-B240-9BA3-741A64CD0673}"/>
              </a:ext>
            </a:extLst>
          </p:cNvPr>
          <p:cNvSpPr txBox="1"/>
          <p:nvPr/>
        </p:nvSpPr>
        <p:spPr>
          <a:xfrm>
            <a:off x="2521856" y="4192102"/>
            <a:ext cx="481913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1978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Deputy Administrator, Philippine Veterans Affairs Office, 2022 to date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Executive Director, National Historical Commission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of the Philippines, 2020-2021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Editor-in-Chief, Cavalier Magazine, PMAAAI, 2002-2012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Editor, Cavalier Handbook, 2012 &amp; 2015 Editions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Author, Academy Register, 2016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Treasurer, PMA Foundation, Inc., 2020 to date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Cavalier Award, PMAAAI, 2011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F79BB4-4910-4D01-8223-D42D93EA40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708" y="3676460"/>
            <a:ext cx="18573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245</Words>
  <Application>Microsoft Macintosh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FMI - GRAPHIC ARTIST</dc:creator>
  <cp:lastModifiedBy>Demosthenes Doplayna</cp:lastModifiedBy>
  <cp:revision>17</cp:revision>
  <cp:lastPrinted>2023-08-30T05:39:52Z</cp:lastPrinted>
  <dcterms:created xsi:type="dcterms:W3CDTF">2023-08-02T08:32:19Z</dcterms:created>
  <dcterms:modified xsi:type="dcterms:W3CDTF">2026-02-13T06:41:17Z</dcterms:modified>
</cp:coreProperties>
</file>