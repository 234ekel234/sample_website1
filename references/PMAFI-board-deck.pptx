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Philippine Military Academy Foundation now has a website, and it is live</a:t>
            </a:r>
          </a:p>
          <a:p>
            <a:r>
              <a:t>today at www dot pmafi dot org. In the next few minutes I want to walk you</a:t>
            </a:r>
          </a:p>
          <a:p>
            <a:r>
              <a:t>through what is on it, and the three things a member can now do for</a:t>
            </a:r>
          </a:p>
          <a:p>
            <a:r>
              <a:t>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home page introduces the Foundation and what it funds, and carries the</a:t>
            </a:r>
          </a:p>
          <a:p>
            <a:r>
              <a:t>Foundation's adopted Vision and Mission, photographs of its work, and the</a:t>
            </a:r>
          </a:p>
          <a:p>
            <a:r>
              <a:t>latest news.</a:t>
            </a:r>
          </a:p>
          <a:p/>
          <a:p>
            <a:r>
              <a:t>The About page tells the Foundation's story since its registration with the</a:t>
            </a:r>
          </a:p>
          <a:p>
            <a:r>
              <a:t>Securities and Exchange Commission in 1988, and lists the Board of Trustees —</a:t>
            </a:r>
          </a:p>
          <a:p>
            <a:r>
              <a:t>all fifteen, with the Superintendent of the Academy serving ex officio.</a:t>
            </a:r>
          </a:p>
          <a:p/>
          <a:p>
            <a:r>
              <a:t>The Programmes page sets out the work itself, and publishes the roll of</a:t>
            </a:r>
          </a:p>
          <a:p>
            <a:r>
              <a:t>endowed chairs in full — a hundred and sixty-one names, with the consent this</a:t>
            </a:r>
          </a:p>
          <a:p>
            <a:r>
              <a:t>Board gave in August.</a:t>
            </a:r>
          </a:p>
          <a:p/>
          <a:p>
            <a:r>
              <a:t>News and announcements are on the home page, and staff post to it themselves.</a:t>
            </a:r>
          </a:p>
          <a:p>
            <a:r>
              <a:t>Everything a visitor reads is kept current by the Foundation, not by a</a:t>
            </a:r>
          </a:p>
          <a:p>
            <a:r>
              <a:t>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Membership page sets out who may join and what it costs — three thousand</a:t>
            </a:r>
          </a:p>
          <a:p>
            <a:r>
              <a:t>pesos, once, for life, the same for all three categories. It also records that</a:t>
            </a:r>
          </a:p>
          <a:p>
            <a:r>
              <a:t>twenty-eight PMA classes are at a hundred per cent membership.</a:t>
            </a:r>
          </a:p>
          <a:p/>
          <a:p>
            <a:r>
              <a:t>The part members will use most is the standing check. They type their name —</a:t>
            </a:r>
          </a:p>
          <a:p>
            <a:r>
              <a:t>not an email address, not a membership number — and the site finds them on the</a:t>
            </a:r>
          </a:p>
          <a:p>
            <a:r>
              <a:t>Foundation's roll of seven thousand seven hundred members.</a:t>
            </a:r>
          </a:p>
          <a:p/>
          <a:p>
            <a:r>
              <a:t>The matching is deliberately forgiving. It handles a missing middle name, a</a:t>
            </a:r>
          </a:p>
          <a:p>
            <a:r>
              <a:t>different word order, and ordinary misspellings, because the roll was typed by</a:t>
            </a:r>
          </a:p>
          <a:p>
            <a:r>
              <a:t>hand. Where two members genuinely share a name, it asks for a PMA class year</a:t>
            </a:r>
          </a:p>
          <a:p>
            <a:r>
              <a:t>rather than listing them.</a:t>
            </a:r>
          </a:p>
          <a:p/>
          <a:p>
            <a:r>
              <a:t>There is no account to create and no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the site has found a member, they can generate their own identification</a:t>
            </a:r>
          </a:p>
          <a:p>
            <a:r>
              <a:t>card, bearing the Foundation's seal.</a:t>
            </a:r>
          </a:p>
          <a:p/>
          <a:p>
            <a:r>
              <a:t>Their name, membership category, PMA class and standing all come from the</a:t>
            </a:r>
          </a:p>
          <a:p>
            <a:r>
              <a:t>Foundation's own records and cannot be edited. The only thing the member</a:t>
            </a:r>
          </a:p>
          <a:p>
            <a:r>
              <a:t>supplies is their photograph, and that photograph never leaves their own</a:t>
            </a:r>
          </a:p>
          <a:p>
            <a:r>
              <a:t>device — it is never sent to us and never stored on a server.</a:t>
            </a:r>
          </a:p>
          <a:p/>
          <a:p>
            <a:r>
              <a:t>The card states the member's standing as of the day it was generated. That</a:t>
            </a:r>
          </a:p>
          <a:p>
            <a:r>
              <a:t>date is printed on purpose, so a card downloaded two years from now does not</a:t>
            </a:r>
          </a:p>
          <a:p>
            <a:r>
              <a:t>go on asserting something that may since have changed.</a:t>
            </a:r>
          </a:p>
          <a:p/>
          <a:p>
            <a:r>
              <a:t>No visit to the office, and nothing to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Donate page publishes the Metrobank account and the GCash channel, so a</a:t>
            </a:r>
          </a:p>
          <a:p>
            <a:r>
              <a:t>member can give directly.</a:t>
            </a:r>
          </a:p>
          <a:p/>
          <a:p>
            <a:r>
              <a:t>A donor then reports their gift through a short form. Staff check it against</a:t>
            </a:r>
          </a:p>
          <a:p>
            <a:r>
              <a:t>the Foundation's own bank record — a person still decides the money arrived —</a:t>
            </a:r>
          </a:p>
          <a:p>
            <a:r>
              <a:t>and the donor is issued a reference. With that reference they can look up</a:t>
            </a:r>
          </a:p>
          <a:p>
            <a:r>
              <a:t>their own giving at any time, and see recent updates from the fund they gave</a:t>
            </a:r>
          </a:p>
          <a:p>
            <a:r>
              <a:t>to.</a:t>
            </a:r>
          </a:p>
          <a:p/>
          <a:p>
            <a:r>
              <a:t>Alongside it, the site publishes what the Foundation funded in 2025: a hundred</a:t>
            </a:r>
          </a:p>
          <a:p>
            <a:r>
              <a:t>and sixty professorial chairs, a hundred and nine books, twenty-one course</a:t>
            </a:r>
          </a:p>
          <a:p>
            <a:r>
              <a:t>directors supported, twelve faculty recognised, and five cadets on full</a:t>
            </a:r>
          </a:p>
          <a:p>
            <a:r>
              <a:t>scholarship.</a:t>
            </a:r>
          </a:p>
          <a:p/>
          <a:p>
            <a:r>
              <a:t>A gift stops being a transaction and becomes something a donor can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PMAFI is online.</a:t>
            </a:r>
          </a:p>
          <a:p>
            <a:r>
              <a:rPr sz="2000">
                <a:solidFill>
                  <a:srgbClr val="C8A951"/>
                </a:solidFill>
                <a:latin typeface="Helvetica Neue"/>
              </a:rPr>
              <a:t>www.pmafi.org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371600" cy="4572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9927" y="1783080"/>
            <a:ext cx="8371840" cy="4709160"/>
          </a:xfrm>
          <a:prstGeom prst="rect">
            <a:avLst/>
          </a:prstGeom>
          <a:solidFill>
            <a:srgbClr val="22314F"/>
          </a:solidFill>
          <a:ln w="9525">
            <a:solidFill>
              <a:srgbClr val="C8A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B7A99"/>
                </a:solidFill>
                <a:latin typeface="Helvetica Neue"/>
              </a:rPr>
              <a:t>slide 1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The Foundation, in one place.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371600" cy="4572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9927" y="1783080"/>
            <a:ext cx="8371840" cy="4709160"/>
          </a:xfrm>
          <a:prstGeom prst="rect">
            <a:avLst/>
          </a:prstGeom>
          <a:solidFill>
            <a:srgbClr val="22314F"/>
          </a:solidFill>
          <a:ln w="9525">
            <a:solidFill>
              <a:srgbClr val="C8A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B7A99"/>
                </a:solidFill>
                <a:latin typeface="Helvetica Neue"/>
              </a:rPr>
              <a:t>slide 2 video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Your name is enough.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371600" cy="4572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9927" y="1783080"/>
            <a:ext cx="8371840" cy="4709160"/>
          </a:xfrm>
          <a:prstGeom prst="rect">
            <a:avLst/>
          </a:prstGeom>
          <a:solidFill>
            <a:srgbClr val="22314F"/>
          </a:solidFill>
          <a:ln w="9525">
            <a:solidFill>
              <a:srgbClr val="C8A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B7A99"/>
                </a:solidFill>
                <a:latin typeface="Helvetica Neue"/>
              </a:rPr>
              <a:t>slide 3 video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A card, in about ten seconds.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371600" cy="4572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9927" y="1783080"/>
            <a:ext cx="8371840" cy="4709160"/>
          </a:xfrm>
          <a:prstGeom prst="rect">
            <a:avLst/>
          </a:prstGeom>
          <a:solidFill>
            <a:srgbClr val="22314F"/>
          </a:solidFill>
          <a:ln w="9525">
            <a:solidFill>
              <a:srgbClr val="C8A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B7A99"/>
                </a:solidFill>
                <a:latin typeface="Helvetica Neue"/>
              </a:rPr>
              <a:t>slide 4 video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Give. Then watch what it funded.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371600" cy="4572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9927" y="1783080"/>
            <a:ext cx="8371840" cy="4709160"/>
          </a:xfrm>
          <a:prstGeom prst="rect">
            <a:avLst/>
          </a:prstGeom>
          <a:solidFill>
            <a:srgbClr val="22314F"/>
          </a:solidFill>
          <a:ln w="9525">
            <a:solidFill>
              <a:srgbClr val="C8A9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B7A99"/>
                </a:solidFill>
                <a:latin typeface="Helvetica Neue"/>
              </a:rPr>
              <a:t>slide 5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